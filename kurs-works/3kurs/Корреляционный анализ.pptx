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0443820A-0E64-48F8-9055-FF0DD326791F}" type="slidenum">
              <a:rPr/>
              <a:t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DBAF7565-BD3D-4988-BF27-19ACCF1FF09C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BADD4291-E64D-4ACE-9606-872F71F26F53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7848800-600E-4D7C-8C16-56913FC2CB79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83F740C6-2FCF-4DC5-BD09-D174C89031A2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1523880" y="1122480"/>
            <a:ext cx="9142920" cy="110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24CE1E4F-90CD-444A-9102-28A7F8C6D4A3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54B77554-3C92-4FB0-A5BA-1538CE87444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CE45E5D0-7D09-4149-8883-20EC63A466B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5258FE-DB84-45B9-9B37-2835BC5834A2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43333E65-E319-423D-A2F3-391F9AD0C527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9A71CA36-5B07-4E7D-959F-2DAA2C004824}" type="slidenum">
              <a:rPr/>
              <a:t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69DE03-561F-4E27-872C-F6EF2C2AABB2}" type="slidenum">
              <a:rPr/>
              <a:t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 bwMode="auto"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A182F08-8818-4767-99C4-3366E5EE4C41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/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1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tx1">
                <a:lumMod val="50000"/>
                <a:lumOff val="5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lang="ru-RU" sz="3600" b="1" i="0" u="none" strike="noStrike" cap="none" spc="-1">
                <a:solidFill>
                  <a:srgbClr val="000000"/>
                </a:solidFill>
                <a:latin typeface="Liberation Sans"/>
                <a:ea typeface="Liberation Sans"/>
                <a:cs typeface="Liberation Sans"/>
              </a:rPr>
              <a:t>«Исследование взаимосвязи между индексом массы тела  и различными факторами на основе корреляционного анализа»</a:t>
            </a:r>
            <a:endParaRPr sz="3600" b="1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9021150" y="5316660"/>
            <a:ext cx="2664824" cy="73171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r">
              <a:buNone/>
              <a:defRPr/>
            </a:pPr>
            <a:r>
              <a:rPr sz="20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Студент ИВТ-1.1:</a:t>
            </a:r>
            <a:endParaRPr sz="20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  <a:p>
            <a:pPr indent="0" algn="r">
              <a:buNone/>
              <a:defRPr/>
            </a:pPr>
            <a:r>
              <a:rPr sz="20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Закаблукова АЭ</a:t>
            </a:r>
            <a:endParaRPr sz="20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581103862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3528D6F9-0BA7-376F-3056-FF88512ADFBE}" type="slidenum">
              <a:rPr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tx1">
                <a:lumMod val="50000"/>
                <a:lumOff val="5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547456" name="PlaceHolder 1"/>
          <p:cNvSpPr>
            <a:spLocks noGrp="1"/>
          </p:cNvSpPr>
          <p:nvPr>
            <p:ph type="subTitle"/>
          </p:nvPr>
        </p:nvSpPr>
        <p:spPr bwMode="auto">
          <a:xfrm flipH="0" flipV="0">
            <a:off x="667833" y="2031999"/>
            <a:ext cx="11175999" cy="3667833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p>
            <a:pPr algn="just">
              <a:defRPr/>
            </a:pPr>
            <a:r>
              <a:rPr sz="2600" b="1"/>
              <a:t>Предмет:</a:t>
            </a:r>
            <a:r>
              <a:rPr sz="2600" b="0"/>
              <a:t> </a:t>
            </a:r>
            <a:r>
              <a:rPr sz="2600" b="0"/>
              <a:t>исследование взаимосвязи между </a:t>
            </a:r>
            <a:endParaRPr sz="2600" b="0"/>
          </a:p>
          <a:p>
            <a:pPr algn="just">
              <a:defRPr/>
            </a:pPr>
            <a:r>
              <a:rPr sz="2600" b="0"/>
              <a:t>	индекс массы тела (ИМТ) – уровень физической активности</a:t>
            </a:r>
            <a:r>
              <a:rPr sz="2600" b="0"/>
              <a:t>;</a:t>
            </a:r>
            <a:endParaRPr sz="2600" b="0"/>
          </a:p>
          <a:p>
            <a:pPr algn="just">
              <a:defRPr/>
            </a:pPr>
            <a:r>
              <a:rPr sz="2600" b="0"/>
              <a:t>	индекс массы тела (ИМТ) – количество калорий.</a:t>
            </a:r>
            <a:endParaRPr sz="2600" b="0"/>
          </a:p>
          <a:p>
            <a:pPr algn="just">
              <a:defRPr/>
            </a:pPr>
            <a:endParaRPr sz="2600" b="0"/>
          </a:p>
          <a:p>
            <a:pPr algn="just">
              <a:defRPr/>
            </a:pPr>
            <a:r>
              <a:rPr sz="2600" b="1"/>
              <a:t>Цель: </a:t>
            </a:r>
            <a:r>
              <a:rPr sz="2600" b="0"/>
              <a:t>проведение корреляционного анализа для выявления 	зависимостей.</a:t>
            </a:r>
            <a:endParaRPr b="0"/>
          </a:p>
        </p:txBody>
      </p:sp>
      <p:sp>
        <p:nvSpPr>
          <p:cNvPr id="1187259487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364A4E0E-BCDC-E855-4C28-254EBEEF55FD}" type="slidenum">
              <a:rPr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tx1">
                <a:lumMod val="50000"/>
                <a:lumOff val="5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384160" name="PlaceHolder 1"/>
          <p:cNvSpPr>
            <a:spLocks noGrp="1"/>
          </p:cNvSpPr>
          <p:nvPr>
            <p:ph type="subTitle"/>
          </p:nvPr>
        </p:nvSpPr>
        <p:spPr bwMode="auto">
          <a:xfrm flipH="0" flipV="0">
            <a:off x="667833" y="2031999"/>
            <a:ext cx="11175999" cy="3667833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p>
            <a:pPr algn="just">
              <a:defRPr/>
            </a:pPr>
            <a:r>
              <a:rPr sz="2600" b="1"/>
              <a:t>Задачи для выполнения цели:</a:t>
            </a:r>
            <a:endParaRPr sz="2600" b="0"/>
          </a:p>
          <a:p>
            <a:pPr algn="just">
              <a:defRPr/>
            </a:pPr>
            <a:r>
              <a:rPr sz="2600" b="0"/>
              <a:t>	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 Изучить материалы по теме корреляционного анализа;</a:t>
            </a:r>
            <a:endParaRPr sz="2600" b="0"/>
          </a:p>
          <a:p>
            <a:pPr algn="just">
              <a:defRPr/>
            </a:pPr>
            <a:r>
              <a:rPr sz="2600" b="0"/>
              <a:t>	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 Провести сбор данных;</a:t>
            </a:r>
            <a:endParaRPr sz="2600" b="0"/>
          </a:p>
          <a:p>
            <a:pPr algn="just">
              <a:defRPr/>
            </a:pPr>
            <a:r>
              <a:rPr sz="2600" b="0"/>
              <a:t>	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 Рассчитать ИМТ для каждого студента;</a:t>
            </a:r>
            <a:endParaRPr sz="2600" b="0"/>
          </a:p>
          <a:p>
            <a:pPr algn="just">
              <a:defRPr/>
            </a:pPr>
            <a:r>
              <a:rPr sz="2600" b="0"/>
              <a:t>	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 Провести корреляционный анализ в Excel</a:t>
            </a:r>
            <a:r>
              <a:rPr sz="2600" b="0"/>
              <a:t>;</a:t>
            </a:r>
            <a:endParaRPr sz="2600" b="0"/>
          </a:p>
          <a:p>
            <a:pPr algn="just">
              <a:defRPr/>
            </a:pPr>
            <a:r>
              <a:rPr sz="2600" b="0"/>
              <a:t>	</a:t>
            </a:r>
            <a:r>
              <a:rPr lang="ru-RU" sz="26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5. Провести корреляционный анализ с помощью Knime.</a:t>
            </a:r>
            <a:endParaRPr sz="2600" b="0"/>
          </a:p>
        </p:txBody>
      </p:sp>
      <p:sp>
        <p:nvSpPr>
          <p:cNvPr id="126697837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B53BB4FA-687C-5B32-FB63-8CA0EA3CFBD7}" type="slidenum">
              <a:rPr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tx1">
                <a:lumMod val="50000"/>
                <a:lumOff val="5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8108684" name="PlaceHolder 1"/>
          <p:cNvSpPr>
            <a:spLocks noGrp="1"/>
          </p:cNvSpPr>
          <p:nvPr>
            <p:ph type="subTitle"/>
          </p:nvPr>
        </p:nvSpPr>
        <p:spPr bwMode="auto">
          <a:xfrm flipH="0" flipV="0">
            <a:off x="667833" y="2031999"/>
            <a:ext cx="11175999" cy="465666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p>
            <a:pPr algn="just">
              <a:defRPr/>
            </a:pPr>
            <a:r>
              <a:rPr sz="2600" b="1"/>
              <a:t>Использованные формулы:</a:t>
            </a:r>
            <a:endParaRPr sz="2600" b="0"/>
          </a:p>
          <a:p>
            <a:pPr algn="just">
              <a:defRPr/>
            </a:pPr>
            <a:endParaRPr sz="2600" b="0"/>
          </a:p>
        </p:txBody>
      </p:sp>
      <p:sp>
        <p:nvSpPr>
          <p:cNvPr id="843439355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4D3ED84F-5828-2D89-47BA-E69625D353D5}" type="slidenum">
              <a:rPr/>
              <a:t>4</a:t>
            </a:fld>
            <a:endParaRPr/>
          </a:p>
        </p:txBody>
      </p:sp>
      <p:pic>
        <p:nvPicPr>
          <p:cNvPr id="139649642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605083" y="2939394"/>
            <a:ext cx="4359249" cy="1525737"/>
          </a:xfrm>
          <a:prstGeom prst="rect">
            <a:avLst/>
          </a:prstGeom>
        </p:spPr>
      </p:pic>
      <p:pic>
        <p:nvPicPr>
          <p:cNvPr id="11113364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500" y="2939394"/>
            <a:ext cx="5537249" cy="15136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tx1">
                <a:lumMod val="50000"/>
                <a:lumOff val="5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75212" name="PlaceHolder 1"/>
          <p:cNvSpPr>
            <a:spLocks noGrp="1"/>
          </p:cNvSpPr>
          <p:nvPr>
            <p:ph type="subTitle"/>
          </p:nvPr>
        </p:nvSpPr>
        <p:spPr bwMode="auto">
          <a:xfrm flipH="0" flipV="0">
            <a:off x="672702" y="867833"/>
            <a:ext cx="11175999" cy="465666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p>
            <a:pPr algn="just">
              <a:defRPr/>
            </a:pPr>
            <a:r>
              <a:rPr sz="2600" b="1"/>
              <a:t>Результаты:</a:t>
            </a:r>
            <a:endParaRPr sz="2600" b="0"/>
          </a:p>
          <a:p>
            <a:pPr algn="just">
              <a:defRPr/>
            </a:pPr>
            <a:endParaRPr sz="2600" b="0"/>
          </a:p>
        </p:txBody>
      </p:sp>
      <p:sp>
        <p:nvSpPr>
          <p:cNvPr id="1743758913" name="PlaceHolder 3"/>
          <p:cNvSpPr>
            <a:spLocks noGrp="1"/>
          </p:cNvSpPr>
          <p:nvPr>
            <p:ph type="sldNum" idx="2"/>
          </p:nvPr>
        </p:nvSpPr>
        <p:spPr bwMode="auto">
          <a:xfrm>
            <a:off x="8615349" y="6117230"/>
            <a:ext cx="2742120" cy="363960"/>
          </a:xfrm>
        </p:spPr>
        <p:txBody>
          <a:bodyPr/>
          <a:p>
            <a:pPr>
              <a:defRPr/>
            </a:pPr>
            <a:fld id="{E4EA4C05-83AF-10B4-471E-52F36944D4C1}" type="slidenum">
              <a:rPr/>
              <a:t>5</a:t>
            </a:fld>
            <a:endParaRPr/>
          </a:p>
        </p:txBody>
      </p:sp>
      <p:pic>
        <p:nvPicPr>
          <p:cNvPr id="58039811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580200" y="1428749"/>
            <a:ext cx="5374335" cy="825246"/>
          </a:xfrm>
          <a:prstGeom prst="rect">
            <a:avLst/>
          </a:prstGeom>
        </p:spPr>
      </p:pic>
      <p:sp>
        <p:nvSpPr>
          <p:cNvPr id="332264036" name=""/>
          <p:cNvSpPr txBox="1"/>
          <p:nvPr/>
        </p:nvSpPr>
        <p:spPr bwMode="auto">
          <a:xfrm flipH="0" flipV="0">
            <a:off x="6948619" y="2825749"/>
            <a:ext cx="4435570" cy="884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600"/>
              <a:t>Связь ИМТ - уровень физической активности</a:t>
            </a:r>
            <a:endParaRPr sz="2600"/>
          </a:p>
        </p:txBody>
      </p:sp>
      <p:pic>
        <p:nvPicPr>
          <p:cNvPr id="10659534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2438" y="1428749"/>
            <a:ext cx="5938263" cy="42968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tx1">
                <a:lumMod val="50000"/>
                <a:lumOff val="5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765518" name="PlaceHolder 1"/>
          <p:cNvSpPr>
            <a:spLocks noGrp="1"/>
          </p:cNvSpPr>
          <p:nvPr>
            <p:ph type="subTitle"/>
          </p:nvPr>
        </p:nvSpPr>
        <p:spPr bwMode="auto">
          <a:xfrm flipH="0" flipV="0">
            <a:off x="672702" y="867833"/>
            <a:ext cx="11175999" cy="465666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p>
            <a:pPr algn="just">
              <a:defRPr/>
            </a:pPr>
            <a:r>
              <a:rPr sz="2600" b="1"/>
              <a:t>Результаты:</a:t>
            </a:r>
            <a:endParaRPr sz="2600" b="0"/>
          </a:p>
          <a:p>
            <a:pPr algn="just">
              <a:defRPr/>
            </a:pPr>
            <a:endParaRPr sz="2600" b="0"/>
          </a:p>
        </p:txBody>
      </p:sp>
      <p:sp>
        <p:nvSpPr>
          <p:cNvPr id="257298070" name="PlaceHolder 3"/>
          <p:cNvSpPr>
            <a:spLocks noGrp="1"/>
          </p:cNvSpPr>
          <p:nvPr>
            <p:ph type="sldNum" idx="2"/>
          </p:nvPr>
        </p:nvSpPr>
        <p:spPr bwMode="auto">
          <a:xfrm>
            <a:off x="8615349" y="6117230"/>
            <a:ext cx="2742120" cy="363960"/>
          </a:xfrm>
        </p:spPr>
        <p:txBody>
          <a:bodyPr/>
          <a:p>
            <a:pPr>
              <a:defRPr/>
            </a:pPr>
            <a:fld id="{AA96FC91-3B8A-F0F3-AB55-046D0B999D9E}" type="slidenum">
              <a:rPr/>
              <a:t>6</a:t>
            </a:fld>
            <a:endParaRPr/>
          </a:p>
        </p:txBody>
      </p:sp>
      <p:sp>
        <p:nvSpPr>
          <p:cNvPr id="2032493150" name=""/>
          <p:cNvSpPr txBox="1"/>
          <p:nvPr/>
        </p:nvSpPr>
        <p:spPr bwMode="auto">
          <a:xfrm flipH="0" flipV="0">
            <a:off x="6948619" y="2825749"/>
            <a:ext cx="4442050" cy="8842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600"/>
              <a:t>Связь ИМТ - количество калорий</a:t>
            </a:r>
            <a:endParaRPr sz="2600"/>
          </a:p>
        </p:txBody>
      </p:sp>
      <p:pic>
        <p:nvPicPr>
          <p:cNvPr id="95470084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01083" y="1428749"/>
            <a:ext cx="6059619" cy="4588888"/>
          </a:xfrm>
          <a:prstGeom prst="rect">
            <a:avLst/>
          </a:prstGeom>
        </p:spPr>
      </p:pic>
      <p:pic>
        <p:nvPicPr>
          <p:cNvPr id="1316593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92333" y="1428749"/>
            <a:ext cx="5518727" cy="931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tx1">
                <a:lumMod val="50000"/>
                <a:lumOff val="5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06577" name="PlaceHolder 1"/>
          <p:cNvSpPr>
            <a:spLocks noGrp="1"/>
          </p:cNvSpPr>
          <p:nvPr>
            <p:ph type="subTitle"/>
          </p:nvPr>
        </p:nvSpPr>
        <p:spPr bwMode="auto">
          <a:xfrm flipH="0" flipV="0">
            <a:off x="667833" y="2031999"/>
            <a:ext cx="11175999" cy="465666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p>
            <a:pPr algn="just">
              <a:defRPr/>
            </a:pPr>
            <a:r>
              <a:rPr sz="2600" b="1"/>
              <a:t>Результаты:</a:t>
            </a:r>
            <a:endParaRPr sz="2600" b="0"/>
          </a:p>
          <a:p>
            <a:pPr algn="just">
              <a:defRPr/>
            </a:pPr>
            <a:endParaRPr sz="2600" b="0"/>
          </a:p>
        </p:txBody>
      </p:sp>
      <p:sp>
        <p:nvSpPr>
          <p:cNvPr id="1978580002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D7CA81DA-38AE-E36F-7BDE-E12F82F20994}" type="slidenum">
              <a:rPr/>
              <a:t>7</a:t>
            </a:fld>
            <a:endParaRPr/>
          </a:p>
        </p:txBody>
      </p:sp>
      <p:pic>
        <p:nvPicPr>
          <p:cNvPr id="65561426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3630083" y="640713"/>
            <a:ext cx="5091666" cy="5715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0">
              <a:schemeClr val="tx1">
                <a:lumMod val="50000"/>
                <a:lumOff val="50000"/>
              </a:schemeClr>
            </a:gs>
            <a:gs pos="100000">
              <a:srgbClr val="FFFFFF"/>
            </a:gs>
          </a:gsLst>
          <a:lin ang="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638969" name="PlaceHolder 1"/>
          <p:cNvSpPr>
            <a:spLocks noGrp="1"/>
          </p:cNvSpPr>
          <p:nvPr>
            <p:ph type="subTitle"/>
          </p:nvPr>
        </p:nvSpPr>
        <p:spPr bwMode="auto">
          <a:xfrm flipH="0" flipV="0">
            <a:off x="667833" y="2031999"/>
            <a:ext cx="11175999" cy="465666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t" anchorCtr="0" forceAA="0" upright="0" compatLnSpc="0">
            <a:noAutofit/>
          </a:bodyPr>
          <a:p>
            <a:pPr algn="just">
              <a:defRPr/>
            </a:pPr>
            <a:r>
              <a:rPr sz="2600" b="1"/>
              <a:t>Спасибо за внимание!</a:t>
            </a:r>
            <a:endParaRPr sz="2600" b="0"/>
          </a:p>
          <a:p>
            <a:pPr algn="just">
              <a:defRPr/>
            </a:pPr>
            <a:endParaRPr sz="2600" b="0"/>
          </a:p>
        </p:txBody>
      </p:sp>
      <p:sp>
        <p:nvSpPr>
          <p:cNvPr id="235386815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14D4C309-550D-FAF1-9AFF-841A9EAFF771}" type="slidenum">
              <a:rPr/>
              <a:t>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Настя Закаблукова</cp:lastModifiedBy>
  <cp:revision>4</cp:revision>
  <dcterms:created xsi:type="dcterms:W3CDTF">2023-08-25T13:22:51Z</dcterms:created>
  <dcterms:modified xsi:type="dcterms:W3CDTF">2024-12-19T19:08:03Z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